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5533D81-94F8-4CE3-849B-631D3B500EC2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99EC35F-17A6-43F4-8CA4-21E007133FB9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8C2FE3-78D8-43B7-BAEB-A4F5527240C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2B71F27-2E95-49B3-BA50-DBA4AA85F0C8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B3A315A-8A3C-49F8-AF9E-261A3848DD92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3C2CFA-FE23-419A-8C55-7FA965C2A3B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DB1A689-86C4-4228-997A-3E916AEE2BA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98CCCE72-53AE-49FD-A877-1C96EECEC93B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27A4725-0773-4D4A-B76C-605F2FEA845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5F482291-7966-44F3-BCB4-5C37C916A46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3F871B6-7F32-4F79-B1FA-4E080B290C1C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text styles</a:t>
            </a:r>
            <a:endParaRPr b="0" lang="en-US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1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83720" indent="-32652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Second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219320" indent="-30492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Third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737360" indent="-36576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Fourth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194560" indent="-36576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Fifth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83720" indent="-32652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Second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219320" indent="-30492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Third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737360" indent="-36576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Fourth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194560" indent="-36576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Fifth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3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888888"/>
                </a:solidFill>
                <a:latin typeface="Calibri"/>
                <a:ea typeface="Calibri"/>
              </a:rPr>
              <a:t>Click to edit Master subtitle style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sldNum" idx="4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83720" indent="-32652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Second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219320" indent="-30492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Third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737360" indent="-36576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Fourth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194560" indent="-36576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Fifth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sldNum" idx="5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pc="-1" strike="noStrike" cap="all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4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88888"/>
                </a:solidFill>
                <a:latin typeface="Calibri"/>
                <a:ea typeface="Calibri"/>
              </a:rPr>
              <a:t>Click to edit Master text styles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6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90560" indent="-33336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234440" indent="-32004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Third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3" marL="1727280" indent="-3556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Fourth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4" marL="2184480" indent="-35568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Fifth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7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b">
            <a:noAutofit/>
          </a:bodyPr>
          <a:p>
            <a:pPr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text styles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b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8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ldNum" idx="9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sldNum" idx="10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title style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83720" indent="-32652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Second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219320" indent="-30492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Third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737360" indent="-36576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Fourth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194560" indent="-36576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Fifth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11"/>
          </p:nvPr>
        </p:nvSpPr>
        <p:spPr>
          <a:xfrm>
            <a:off x="8422920" y="6404400"/>
            <a:ext cx="263520" cy="26892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2896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Thread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2900" spc="-1" strike="noStrike">
                <a:solidFill>
                  <a:srgbClr val="000000"/>
                </a:solidFill>
                <a:latin typeface="Calibri"/>
                <a:ea typeface="Calibri"/>
              </a:rPr>
              <a:t>A thread is a sequence of related instructions executed independently of other instruction sequences.</a:t>
            </a:r>
            <a:endParaRPr b="0" lang="en-US" sz="29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2900" spc="-1" strike="noStrike">
                <a:solidFill>
                  <a:srgbClr val="000000"/>
                </a:solidFill>
                <a:latin typeface="Calibri"/>
                <a:ea typeface="Calibri"/>
              </a:rPr>
              <a:t>A thread can create another threads.</a:t>
            </a:r>
            <a:endParaRPr b="0" lang="en-US" sz="29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2900" spc="-1" strike="noStrike">
                <a:solidFill>
                  <a:srgbClr val="000000"/>
                </a:solidFill>
                <a:latin typeface="Calibri"/>
                <a:ea typeface="Calibri"/>
              </a:rPr>
              <a:t>Each thread maintains its current state of execution.</a:t>
            </a:r>
            <a:endParaRPr b="0" lang="en-US" sz="29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2900" spc="-1" strike="noStrike">
                <a:solidFill>
                  <a:srgbClr val="000000"/>
                </a:solidFill>
                <a:latin typeface="Calibri"/>
                <a:ea typeface="Calibri"/>
              </a:rPr>
              <a:t>Three types of thread</a:t>
            </a:r>
            <a:endParaRPr b="0" lang="en-US" sz="29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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  <a:ea typeface="Calibri"/>
              </a:rPr>
              <a:t>User level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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  <a:ea typeface="Calibri"/>
              </a:rPr>
              <a:t>Kernel level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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  <a:ea typeface="Calibri"/>
              </a:rPr>
              <a:t>Hardware level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Thread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560" y="13716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Threads share same </a:t>
            </a:r>
            <a:r>
              <a:rPr b="0" lang="en-US" sz="3200" spc="-1" strike="noStrike">
                <a:solidFill>
                  <a:srgbClr val="00b050"/>
                </a:solidFill>
                <a:latin typeface="Calibri"/>
                <a:ea typeface="Calibri"/>
              </a:rPr>
              <a:t>address space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but have their own </a:t>
            </a:r>
            <a:r>
              <a:rPr b="0" lang="en-US" sz="3200" spc="-1" strike="noStrike">
                <a:solidFill>
                  <a:srgbClr val="00b050"/>
                </a:solidFill>
                <a:latin typeface="Calibri"/>
                <a:ea typeface="Calibri"/>
              </a:rPr>
              <a:t>private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stacks.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Thread states: ready, running, waiting (blocked), or terminated.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59" name="Group 119"/>
          <p:cNvGrpSpPr/>
          <p:nvPr/>
        </p:nvGrpSpPr>
        <p:grpSpPr>
          <a:xfrm>
            <a:off x="2362320" y="4724280"/>
            <a:ext cx="1523520" cy="914040"/>
            <a:chOff x="2362320" y="4724280"/>
            <a:chExt cx="1523520" cy="914040"/>
          </a:xfrm>
        </p:grpSpPr>
        <p:sp>
          <p:nvSpPr>
            <p:cNvPr id="60" name="Shape 117"/>
            <p:cNvSpPr/>
            <p:nvPr/>
          </p:nvSpPr>
          <p:spPr>
            <a:xfrm>
              <a:off x="2362320" y="4724280"/>
              <a:ext cx="1523520" cy="91404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rgbClr val="3a5e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Calibri"/>
                <a:ea typeface="Calibri"/>
              </a:endParaRPr>
            </a:p>
          </p:txBody>
        </p:sp>
        <p:sp>
          <p:nvSpPr>
            <p:cNvPr id="61" name="Shape 118"/>
            <p:cNvSpPr/>
            <p:nvPr/>
          </p:nvSpPr>
          <p:spPr>
            <a:xfrm>
              <a:off x="2362320" y="4998960"/>
              <a:ext cx="1523520" cy="36504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latin typeface="Calibri"/>
                  <a:ea typeface="Calibri"/>
                </a:rPr>
                <a:t>Thread 1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2" name="Group 122"/>
          <p:cNvGrpSpPr/>
          <p:nvPr/>
        </p:nvGrpSpPr>
        <p:grpSpPr>
          <a:xfrm>
            <a:off x="4876920" y="5410080"/>
            <a:ext cx="1523520" cy="914040"/>
            <a:chOff x="4876920" y="5410080"/>
            <a:chExt cx="1523520" cy="914040"/>
          </a:xfrm>
        </p:grpSpPr>
        <p:sp>
          <p:nvSpPr>
            <p:cNvPr id="63" name="Shape 120"/>
            <p:cNvSpPr/>
            <p:nvPr/>
          </p:nvSpPr>
          <p:spPr>
            <a:xfrm>
              <a:off x="4876920" y="5410080"/>
              <a:ext cx="1523520" cy="91404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rgbClr val="3a5e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Calibri"/>
                <a:ea typeface="Calibri"/>
              </a:endParaRPr>
            </a:p>
          </p:txBody>
        </p:sp>
        <p:sp>
          <p:nvSpPr>
            <p:cNvPr id="64" name="Shape 121"/>
            <p:cNvSpPr/>
            <p:nvPr/>
          </p:nvSpPr>
          <p:spPr>
            <a:xfrm>
              <a:off x="4876920" y="5684760"/>
              <a:ext cx="1523520" cy="36504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latin typeface="Calibri"/>
                  <a:ea typeface="Calibri"/>
                </a:rPr>
                <a:t>Thread 3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" name="Group 125"/>
          <p:cNvGrpSpPr/>
          <p:nvPr/>
        </p:nvGrpSpPr>
        <p:grpSpPr>
          <a:xfrm>
            <a:off x="4876920" y="4038480"/>
            <a:ext cx="1523520" cy="914040"/>
            <a:chOff x="4876920" y="4038480"/>
            <a:chExt cx="1523520" cy="914040"/>
          </a:xfrm>
        </p:grpSpPr>
        <p:sp>
          <p:nvSpPr>
            <p:cNvPr id="66" name="Shape 123"/>
            <p:cNvSpPr/>
            <p:nvPr/>
          </p:nvSpPr>
          <p:spPr>
            <a:xfrm>
              <a:off x="4876920" y="4038480"/>
              <a:ext cx="1523520" cy="91404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rgbClr val="3a5e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Calibri"/>
                <a:ea typeface="Calibri"/>
              </a:endParaRPr>
            </a:p>
          </p:txBody>
        </p:sp>
        <p:sp>
          <p:nvSpPr>
            <p:cNvPr id="67" name="Shape 124"/>
            <p:cNvSpPr/>
            <p:nvPr/>
          </p:nvSpPr>
          <p:spPr>
            <a:xfrm>
              <a:off x="4876920" y="4313160"/>
              <a:ext cx="1523520" cy="36504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latin typeface="Calibri"/>
                  <a:ea typeface="Calibri"/>
                </a:rPr>
                <a:t>Thread 2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8" name="Group 128"/>
          <p:cNvGrpSpPr/>
          <p:nvPr/>
        </p:nvGrpSpPr>
        <p:grpSpPr>
          <a:xfrm>
            <a:off x="7162920" y="5410080"/>
            <a:ext cx="1523520" cy="914040"/>
            <a:chOff x="7162920" y="5410080"/>
            <a:chExt cx="1523520" cy="914040"/>
          </a:xfrm>
        </p:grpSpPr>
        <p:sp>
          <p:nvSpPr>
            <p:cNvPr id="69" name="Shape 126"/>
            <p:cNvSpPr/>
            <p:nvPr/>
          </p:nvSpPr>
          <p:spPr>
            <a:xfrm>
              <a:off x="7162920" y="5410080"/>
              <a:ext cx="1523520" cy="91404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rgbClr val="3a5e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Calibri"/>
                <a:ea typeface="Calibri"/>
              </a:endParaRPr>
            </a:p>
          </p:txBody>
        </p:sp>
        <p:sp>
          <p:nvSpPr>
            <p:cNvPr id="70" name="Shape 127"/>
            <p:cNvSpPr/>
            <p:nvPr/>
          </p:nvSpPr>
          <p:spPr>
            <a:xfrm>
              <a:off x="7162920" y="5684760"/>
              <a:ext cx="1523520" cy="36504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latin typeface="Calibri"/>
                  <a:ea typeface="Calibri"/>
                </a:rPr>
                <a:t>Thread 4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1" name="Shape 138"/>
          <p:cNvSpPr/>
          <p:nvPr/>
        </p:nvSpPr>
        <p:spPr>
          <a:xfrm>
            <a:off x="3898800" y="4707000"/>
            <a:ext cx="964800" cy="262800"/>
          </a:xfrm>
          <a:custGeom>
            <a:avLst/>
            <a:gdLst>
              <a:gd name="textAreaLeft" fmla="*/ 0 w 964800"/>
              <a:gd name="textAreaRight" fmla="*/ 965160 w 964800"/>
              <a:gd name="textAreaTop" fmla="*/ 0 h 262800"/>
              <a:gd name="textAreaBottom" fmla="*/ 263160 h 262800"/>
            </a:gdLst>
            <a:ahLst/>
            <a:rect l="textAreaLeft" t="textAreaTop" r="textAreaRight" b="textAreaBottom"/>
            <a:pathLst>
              <a:path w="21600" h="21600">
                <a:moveTo>
                  <a:pt x="0" y="21600"/>
                </a:moveTo>
                <a:cubicBezTo>
                  <a:pt x="7200" y="14400"/>
                  <a:pt x="14400" y="7200"/>
                  <a:pt x="21600" y="0"/>
                </a:cubicBezTo>
              </a:path>
            </a:pathLst>
          </a:custGeom>
          <a:noFill/>
          <a:ln w="0">
            <a:solidFill>
              <a:srgbClr val="4a7ebb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72" name="Shape 139"/>
          <p:cNvSpPr/>
          <p:nvPr/>
        </p:nvSpPr>
        <p:spPr>
          <a:xfrm>
            <a:off x="3898800" y="5392800"/>
            <a:ext cx="964800" cy="262800"/>
          </a:xfrm>
          <a:custGeom>
            <a:avLst/>
            <a:gdLst>
              <a:gd name="textAreaLeft" fmla="*/ 0 w 964800"/>
              <a:gd name="textAreaRight" fmla="*/ 965160 w 964800"/>
              <a:gd name="textAreaTop" fmla="*/ 0 h 262800"/>
              <a:gd name="textAreaBottom" fmla="*/ 263160 h 2628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cubicBezTo>
                  <a:pt x="7200" y="7200"/>
                  <a:pt x="14400" y="14400"/>
                  <a:pt x="21600" y="21600"/>
                </a:cubicBezTo>
              </a:path>
            </a:pathLst>
          </a:custGeom>
          <a:noFill/>
          <a:ln w="0">
            <a:solidFill>
              <a:srgbClr val="4a7ebb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73" name="Shape 140"/>
          <p:cNvSpPr/>
          <p:nvPr/>
        </p:nvSpPr>
        <p:spPr>
          <a:xfrm>
            <a:off x="6413400" y="5867280"/>
            <a:ext cx="736200" cy="360"/>
          </a:xfrm>
          <a:custGeom>
            <a:avLst/>
            <a:gdLst>
              <a:gd name="textAreaLeft" fmla="*/ 0 w 736200"/>
              <a:gd name="textAreaRight" fmla="*/ 736560 w 73620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noFill/>
          <a:ln w="0">
            <a:solidFill>
              <a:srgbClr val="4a7ebb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grpSp>
        <p:nvGrpSpPr>
          <p:cNvPr id="74" name="Group 134"/>
          <p:cNvGrpSpPr/>
          <p:nvPr/>
        </p:nvGrpSpPr>
        <p:grpSpPr>
          <a:xfrm>
            <a:off x="228600" y="4724280"/>
            <a:ext cx="1523520" cy="914040"/>
            <a:chOff x="228600" y="4724280"/>
            <a:chExt cx="1523520" cy="914040"/>
          </a:xfrm>
        </p:grpSpPr>
        <p:sp>
          <p:nvSpPr>
            <p:cNvPr id="75" name="Shape 132"/>
            <p:cNvSpPr/>
            <p:nvPr/>
          </p:nvSpPr>
          <p:spPr>
            <a:xfrm>
              <a:off x="228600" y="4724280"/>
              <a:ext cx="1523520" cy="914040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rgbClr val="3a5e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no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pc="-1" strike="noStrike">
                <a:solidFill>
                  <a:srgbClr val="ffffff"/>
                </a:solidFill>
                <a:latin typeface="Calibri"/>
                <a:ea typeface="Calibri"/>
              </a:endParaRPr>
            </a:p>
          </p:txBody>
        </p:sp>
        <p:sp>
          <p:nvSpPr>
            <p:cNvPr id="76" name="Shape 133"/>
            <p:cNvSpPr/>
            <p:nvPr/>
          </p:nvSpPr>
          <p:spPr>
            <a:xfrm>
              <a:off x="228600" y="4998960"/>
              <a:ext cx="1523520" cy="365040"/>
            </a:xfrm>
            <a:prstGeom prst="rect">
              <a:avLst/>
            </a:prstGeom>
            <a:noFill/>
            <a:ln w="127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numCol="1" spcCol="0" lIns="45720" rIns="45720" anchor="ctr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800" spc="-1" strike="noStrike">
                  <a:solidFill>
                    <a:srgbClr val="ffffff"/>
                  </a:solidFill>
                  <a:latin typeface="Calibri"/>
                  <a:ea typeface="Calibri"/>
                </a:rPr>
                <a:t>Thread 0</a:t>
              </a: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7" name="Shape 141"/>
          <p:cNvSpPr/>
          <p:nvPr/>
        </p:nvSpPr>
        <p:spPr>
          <a:xfrm>
            <a:off x="1765440" y="5181480"/>
            <a:ext cx="583920" cy="360"/>
          </a:xfrm>
          <a:custGeom>
            <a:avLst/>
            <a:gdLst>
              <a:gd name="textAreaLeft" fmla="*/ 0 w 583920"/>
              <a:gd name="textAreaRight" fmla="*/ 584280 w 583920"/>
              <a:gd name="textAreaTop" fmla="*/ 0 h 360"/>
              <a:gd name="textAreaBottom" fmla="*/ 720 h 360"/>
            </a:gdLst>
            <a:ahLst/>
            <a:rect l="textAreaLeft" t="textAreaTop" r="textAreaRight" b="textAreaBottom"/>
            <a:pathLst>
              <a:path w="21600" h="0">
                <a:moveTo>
                  <a:pt x="0" y="0"/>
                </a:moveTo>
                <a:cubicBezTo>
                  <a:pt x="7200" y="0"/>
                  <a:pt x="14400" y="0"/>
                  <a:pt x="21600" y="0"/>
                </a:cubicBezTo>
              </a:path>
            </a:pathLst>
          </a:custGeom>
          <a:noFill/>
          <a:ln w="0">
            <a:solidFill>
              <a:srgbClr val="4a7ebb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4280" bIns="-4428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78" name="Shape 136"/>
          <p:cNvSpPr/>
          <p:nvPr/>
        </p:nvSpPr>
        <p:spPr>
          <a:xfrm>
            <a:off x="304560" y="6553080"/>
            <a:ext cx="8610840" cy="360"/>
          </a:xfrm>
          <a:prstGeom prst="line">
            <a:avLst/>
          </a:prstGeom>
          <a:ln w="28575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tIns="-44640" bIns="-4464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  <p:sp>
        <p:nvSpPr>
          <p:cNvPr id="79" name="Shape 137"/>
          <p:cNvSpPr/>
          <p:nvPr/>
        </p:nvSpPr>
        <p:spPr>
          <a:xfrm>
            <a:off x="1905120" y="6172200"/>
            <a:ext cx="761760" cy="3639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time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POSIX Thread (Pthread)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22200" indent="-322200" defTabSz="8596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010" spc="-1" strike="noStrike">
                <a:solidFill>
                  <a:srgbClr val="000000"/>
                </a:solidFill>
                <a:latin typeface="Calibri"/>
                <a:ea typeface="Calibri"/>
              </a:rPr>
              <a:t>Low-level threading libraries</a:t>
            </a:r>
            <a:endParaRPr b="0" lang="en-US" sz="3010" spc="-1" strike="noStrike">
              <a:solidFill>
                <a:srgbClr val="000000"/>
              </a:solidFill>
              <a:latin typeface="Calibri"/>
            </a:endParaRPr>
          </a:p>
          <a:p>
            <a:pPr marL="322200" indent="-322200" defTabSz="8596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010" spc="-1" strike="noStrike">
                <a:solidFill>
                  <a:srgbClr val="000000"/>
                </a:solidFill>
                <a:latin typeface="Calibri"/>
                <a:ea typeface="Calibri"/>
              </a:rPr>
              <a:t>Native threading interface for Linux</a:t>
            </a:r>
            <a:endParaRPr b="0" lang="en-US" sz="3010" spc="-1" strike="noStrike">
              <a:solidFill>
                <a:srgbClr val="000000"/>
              </a:solidFill>
              <a:latin typeface="Calibri"/>
            </a:endParaRPr>
          </a:p>
          <a:p>
            <a:pPr marL="322200" indent="-322200" defTabSz="8596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010" spc="-1" strike="noStrike">
                <a:solidFill>
                  <a:srgbClr val="000000"/>
                </a:solidFill>
                <a:latin typeface="Calibri"/>
                <a:ea typeface="Calibri"/>
              </a:rPr>
              <a:t>C language programming types and procedure calls implemented with a </a:t>
            </a:r>
            <a:r>
              <a:rPr b="0" lang="en-US" sz="3010" spc="-1" strike="noStrike">
                <a:solidFill>
                  <a:srgbClr val="00b0f0"/>
                </a:solidFill>
                <a:latin typeface="Calibri"/>
                <a:ea typeface="Calibri"/>
              </a:rPr>
              <a:t>pthread.h</a:t>
            </a:r>
            <a:r>
              <a:rPr b="0" lang="en-US" sz="3010" spc="-1" strike="noStrike">
                <a:solidFill>
                  <a:srgbClr val="000000"/>
                </a:solidFill>
                <a:latin typeface="Calibri"/>
                <a:ea typeface="Calibri"/>
              </a:rPr>
              <a:t> header.</a:t>
            </a:r>
            <a:endParaRPr b="0" lang="en-US" sz="3010" spc="-1" strike="noStrike">
              <a:solidFill>
                <a:srgbClr val="000000"/>
              </a:solidFill>
              <a:latin typeface="Calibri"/>
            </a:endParaRPr>
          </a:p>
          <a:p>
            <a:pPr marL="322200" indent="-322200" defTabSz="8596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010" spc="-1" strike="noStrike">
                <a:solidFill>
                  <a:srgbClr val="000000"/>
                </a:solidFill>
                <a:latin typeface="Calibri"/>
                <a:ea typeface="Calibri"/>
              </a:rPr>
              <a:t>It assumes shared memory.</a:t>
            </a:r>
            <a:endParaRPr b="0" lang="en-US" sz="3010" spc="-1" strike="noStrike">
              <a:solidFill>
                <a:srgbClr val="000000"/>
              </a:solidFill>
              <a:latin typeface="Calibri"/>
            </a:endParaRPr>
          </a:p>
          <a:p>
            <a:pPr marL="322200" indent="-322200" defTabSz="85968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010" spc="-1" strike="noStrike">
                <a:solidFill>
                  <a:srgbClr val="000000"/>
                </a:solidFill>
                <a:latin typeface="Calibri"/>
                <a:ea typeface="Calibri"/>
              </a:rPr>
              <a:t>To compile with GNU compiler:</a:t>
            </a:r>
            <a:endParaRPr b="0" lang="en-US" sz="3010" spc="-1" strike="noStrike">
              <a:solidFill>
                <a:srgbClr val="000000"/>
              </a:solidFill>
              <a:latin typeface="Calibri"/>
            </a:endParaRPr>
          </a:p>
          <a:p>
            <a:pPr lvl="1" marL="698400" indent="-268560" defTabSz="8596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"/>
            </a:pPr>
            <a:r>
              <a:rPr b="0" lang="en-US" sz="2630" spc="-1" strike="noStrike">
                <a:solidFill>
                  <a:srgbClr val="000000"/>
                </a:solidFill>
                <a:latin typeface="Calibri"/>
                <a:ea typeface="Calibri"/>
              </a:rPr>
              <a:t>gcc/g++ &lt;progname&gt; –lpthread</a:t>
            </a:r>
            <a:endParaRPr b="0" lang="en-US" sz="2630" spc="-1" strike="noStrike">
              <a:solidFill>
                <a:srgbClr val="000000"/>
              </a:solidFill>
              <a:latin typeface="Calibri"/>
            </a:endParaRPr>
          </a:p>
          <a:p>
            <a:pPr lvl="1" marL="698400" indent="-268560" defTabSz="85968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"/>
            </a:pPr>
            <a:r>
              <a:rPr b="0" lang="en-US" sz="2630" spc="-1" strike="noStrike">
                <a:solidFill>
                  <a:srgbClr val="000000"/>
                </a:solidFill>
                <a:latin typeface="Calibri"/>
                <a:ea typeface="Calibri"/>
              </a:rPr>
              <a:t>gcc/g++ -pthread &lt;progname&gt;</a:t>
            </a:r>
            <a:endParaRPr b="0" lang="en-US" sz="263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Routines: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pthread_create (thread, attr, start_routine,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arg)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pthread_join (threadid, status)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pthread_exit (status)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pthread_cancel (thread)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pthread_attr_init (attr)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pthread_attr_destroy (attr)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Pthread Management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Pthread Management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05560" cy="4876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8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700" spc="-1" strike="noStrike">
                <a:solidFill>
                  <a:srgbClr val="00b0f0"/>
                </a:solidFill>
                <a:latin typeface="Calibri"/>
                <a:ea typeface="Calibri"/>
              </a:rPr>
              <a:t>pthread_create (thread, attr, start_routine, arg) </a:t>
            </a:r>
            <a:r>
              <a:rPr b="0" lang="en-US" sz="2700" spc="-1" strike="noStrike">
                <a:solidFill>
                  <a:srgbClr val="000000"/>
                </a:solidFill>
                <a:latin typeface="Calibri"/>
                <a:ea typeface="Calibri"/>
              </a:rPr>
              <a:t>creates a new thread and makes it executable. This routine can be called any number of times from anywhere within your code. 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"/>
              <a:tabLst>
                <a:tab algn="l" pos="0"/>
              </a:tabLst>
            </a:pPr>
            <a:r>
              <a:rPr b="0" lang="en-US" sz="2700" spc="-1" strike="noStrike">
                <a:solidFill>
                  <a:srgbClr val="000000"/>
                </a:solidFill>
                <a:latin typeface="Calibri"/>
                <a:ea typeface="Calibri"/>
              </a:rPr>
              <a:t>pthread_create arguments:</a:t>
            </a:r>
            <a:endParaRPr b="0" lang="en-US" sz="27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80000"/>
              </a:lnSpc>
              <a:spcBef>
                <a:spcPts val="499"/>
              </a:spcBef>
              <a:buClr>
                <a:srgbClr val="00b0f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b0f0"/>
                </a:solidFill>
                <a:latin typeface="Calibri"/>
                <a:ea typeface="Calibri"/>
              </a:rPr>
              <a:t>thread:</a:t>
            </a:r>
            <a:r>
              <a:rPr b="0" lang="en-US" sz="2300" spc="-1" strike="noStrike">
                <a:solidFill>
                  <a:srgbClr val="000000"/>
                </a:solidFill>
                <a:latin typeface="Calibri"/>
                <a:ea typeface="Calibri"/>
              </a:rPr>
              <a:t> An unique identifier for the new thread returned by the subroutine. 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80000"/>
              </a:lnSpc>
              <a:spcBef>
                <a:spcPts val="499"/>
              </a:spcBef>
              <a:buClr>
                <a:srgbClr val="00b0f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b0f0"/>
                </a:solidFill>
                <a:latin typeface="Calibri"/>
                <a:ea typeface="Calibri"/>
              </a:rPr>
              <a:t>attr:</a:t>
            </a:r>
            <a:r>
              <a:rPr b="0" lang="en-US" sz="2300" spc="-1" strike="noStrike">
                <a:solidFill>
                  <a:srgbClr val="000000"/>
                </a:solidFill>
                <a:latin typeface="Calibri"/>
                <a:ea typeface="Calibri"/>
              </a:rPr>
              <a:t> can be used to set thread attributes. NULL: default, specified only at thread creation time.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80000"/>
              </a:lnSpc>
              <a:spcBef>
                <a:spcPts val="499"/>
              </a:spcBef>
              <a:buClr>
                <a:srgbClr val="00b0f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b0f0"/>
                </a:solidFill>
                <a:latin typeface="Calibri"/>
                <a:ea typeface="Calibri"/>
              </a:rPr>
              <a:t>start_routine: </a:t>
            </a:r>
            <a:r>
              <a:rPr b="0" lang="en-US" sz="2300" spc="-1" strike="noStrike">
                <a:solidFill>
                  <a:srgbClr val="000000"/>
                </a:solidFill>
                <a:latin typeface="Calibri"/>
                <a:ea typeface="Calibri"/>
              </a:rPr>
              <a:t>the C routine that the thread will execute once it is created. 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80000"/>
              </a:lnSpc>
              <a:spcBef>
                <a:spcPts val="499"/>
              </a:spcBef>
              <a:buClr>
                <a:srgbClr val="00b0f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300" spc="-1" strike="noStrike">
                <a:solidFill>
                  <a:srgbClr val="00b0f0"/>
                </a:solidFill>
                <a:latin typeface="Calibri"/>
                <a:ea typeface="Calibri"/>
              </a:rPr>
              <a:t>arg:</a:t>
            </a:r>
            <a:r>
              <a:rPr b="0" lang="en-US" sz="2300" spc="-1" strike="noStrike">
                <a:solidFill>
                  <a:srgbClr val="000000"/>
                </a:solidFill>
                <a:latin typeface="Calibri"/>
                <a:ea typeface="Calibri"/>
              </a:rPr>
              <a:t> A single argument that may be passed to start_routine. </a:t>
            </a:r>
            <a:endParaRPr b="0" lang="en-US" sz="23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35880" indent="-335880" defTabSz="896040">
              <a:lnSpc>
                <a:spcPct val="9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140" spc="-1" strike="noStrike">
                <a:solidFill>
                  <a:srgbClr val="00b0f0"/>
                </a:solidFill>
                <a:latin typeface="Calibri"/>
                <a:ea typeface="Calibri"/>
              </a:rPr>
              <a:t>pthread_join (threadid, status)</a:t>
            </a:r>
            <a:r>
              <a:rPr b="0" lang="en-US" sz="3140" spc="-1" strike="noStrike">
                <a:solidFill>
                  <a:srgbClr val="000000"/>
                </a:solidFill>
                <a:latin typeface="Calibri"/>
                <a:ea typeface="Calibri"/>
              </a:rPr>
              <a:t> accomplishes synchronization between threads.</a:t>
            </a:r>
            <a:endParaRPr b="0" lang="en-US" sz="3140" spc="-1" strike="noStrike">
              <a:solidFill>
                <a:srgbClr val="000000"/>
              </a:solidFill>
              <a:latin typeface="Calibri"/>
            </a:endParaRPr>
          </a:p>
          <a:p>
            <a:pPr marL="335880" indent="-335880" defTabSz="896040">
              <a:lnSpc>
                <a:spcPct val="9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140" spc="-1" strike="noStrike">
                <a:solidFill>
                  <a:srgbClr val="00b0f0"/>
                </a:solidFill>
                <a:latin typeface="Calibri"/>
                <a:ea typeface="Calibri"/>
              </a:rPr>
              <a:t>pthread_join(threadid, status)</a:t>
            </a:r>
            <a:r>
              <a:rPr b="0" lang="en-US" sz="3140" spc="-1" strike="noStrike">
                <a:solidFill>
                  <a:srgbClr val="000000"/>
                </a:solidFill>
                <a:latin typeface="Calibri"/>
                <a:ea typeface="Calibri"/>
              </a:rPr>
              <a:t> subroutine blocks the calling thread until the specified </a:t>
            </a:r>
            <a:r>
              <a:rPr b="0" lang="en-US" sz="3140" spc="-1" strike="noStrike">
                <a:solidFill>
                  <a:srgbClr val="00b0f0"/>
                </a:solidFill>
                <a:latin typeface="Calibri"/>
                <a:ea typeface="Calibri"/>
              </a:rPr>
              <a:t>threadid</a:t>
            </a:r>
            <a:r>
              <a:rPr b="0" lang="en-US" sz="3140" spc="-1" strike="noStrike">
                <a:solidFill>
                  <a:srgbClr val="000000"/>
                </a:solidFill>
                <a:latin typeface="Calibri"/>
                <a:ea typeface="Calibri"/>
              </a:rPr>
              <a:t> thread terminates. </a:t>
            </a:r>
            <a:endParaRPr b="0" lang="en-US" sz="3140" spc="-1" strike="noStrike">
              <a:solidFill>
                <a:srgbClr val="000000"/>
              </a:solidFill>
              <a:latin typeface="Calibri"/>
            </a:endParaRPr>
          </a:p>
          <a:p>
            <a:pPr marL="335880" indent="-335880" defTabSz="896040">
              <a:lnSpc>
                <a:spcPct val="9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140" spc="-1" strike="noStrike">
                <a:solidFill>
                  <a:srgbClr val="000000"/>
                </a:solidFill>
                <a:latin typeface="Calibri"/>
                <a:ea typeface="Calibri"/>
              </a:rPr>
              <a:t>The programmer is able to obtain the target thread’s termination return </a:t>
            </a:r>
            <a:r>
              <a:rPr b="0" lang="en-US" sz="3140" spc="-1" strike="noStrike">
                <a:solidFill>
                  <a:srgbClr val="00b0f0"/>
                </a:solidFill>
                <a:latin typeface="Calibri"/>
                <a:ea typeface="Calibri"/>
              </a:rPr>
              <a:t>status</a:t>
            </a:r>
            <a:r>
              <a:rPr b="0" lang="en-US" sz="3140" spc="-1" strike="noStrike">
                <a:solidFill>
                  <a:srgbClr val="000000"/>
                </a:solidFill>
                <a:latin typeface="Calibri"/>
                <a:ea typeface="Calibri"/>
              </a:rPr>
              <a:t> if it was specified in the target thread’s call to pthread_exit(). </a:t>
            </a:r>
            <a:endParaRPr b="0" lang="en-US" sz="31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Pthread Management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Pthread Management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05560" cy="4876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32640" indent="-332640" defTabSz="887040">
              <a:lnSpc>
                <a:spcPct val="8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10" spc="-1" strike="noStrike">
                <a:solidFill>
                  <a:srgbClr val="00b0f0"/>
                </a:solidFill>
                <a:latin typeface="Calibri"/>
                <a:ea typeface="Calibri"/>
              </a:rPr>
              <a:t>pthread_exit (status) </a:t>
            </a:r>
            <a:r>
              <a:rPr b="0" lang="en-US" sz="2810" spc="-1" strike="noStrike">
                <a:solidFill>
                  <a:srgbClr val="000000"/>
                </a:solidFill>
                <a:latin typeface="Calibri"/>
                <a:ea typeface="Calibri"/>
              </a:rPr>
              <a:t>allows the programmer to specify an optional termination </a:t>
            </a:r>
            <a:r>
              <a:rPr b="0" lang="en-US" sz="2810" spc="-1" strike="noStrike">
                <a:solidFill>
                  <a:srgbClr val="00b0f0"/>
                </a:solidFill>
                <a:latin typeface="Calibri"/>
                <a:ea typeface="Calibri"/>
              </a:rPr>
              <a:t>status</a:t>
            </a:r>
            <a:r>
              <a:rPr b="0" lang="en-US" sz="2810" spc="-1" strike="noStrike">
                <a:solidFill>
                  <a:srgbClr val="000000"/>
                </a:solidFill>
                <a:latin typeface="Calibri"/>
                <a:ea typeface="Calibri"/>
              </a:rPr>
              <a:t> parameter. If any file is open inside the thread, it will remain after the thread termination.</a:t>
            </a:r>
            <a:endParaRPr b="0" lang="en-US" sz="2810" spc="-1" strike="noStrike">
              <a:solidFill>
                <a:srgbClr val="000000"/>
              </a:solidFill>
              <a:latin typeface="Calibri"/>
            </a:endParaRPr>
          </a:p>
          <a:p>
            <a:pPr marL="332640" indent="-332640" defTabSz="887040">
              <a:lnSpc>
                <a:spcPct val="8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1650" spc="-1" strike="noStrike">
              <a:solidFill>
                <a:srgbClr val="000000"/>
              </a:solidFill>
              <a:latin typeface="Calibri"/>
            </a:endParaRPr>
          </a:p>
          <a:p>
            <a:pPr marL="332640" indent="-332640" defTabSz="887040">
              <a:lnSpc>
                <a:spcPct val="8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"/>
              <a:tabLst>
                <a:tab algn="l" pos="0"/>
              </a:tabLst>
            </a:pPr>
            <a:r>
              <a:rPr b="0" lang="en-US" sz="2810" spc="-1" strike="noStrike">
                <a:solidFill>
                  <a:srgbClr val="000000"/>
                </a:solidFill>
                <a:latin typeface="Calibri"/>
                <a:ea typeface="Calibri"/>
              </a:rPr>
              <a:t>A thread may be terminated: </a:t>
            </a:r>
            <a:endParaRPr b="0" lang="en-US" sz="2810" spc="-1" strike="noStrike">
              <a:solidFill>
                <a:srgbClr val="000000"/>
              </a:solidFill>
              <a:latin typeface="Calibri"/>
            </a:endParaRPr>
          </a:p>
          <a:p>
            <a:pPr lvl="1" marL="720720" indent="-277200" defTabSz="8870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420" spc="-1" strike="noStrike">
                <a:solidFill>
                  <a:srgbClr val="000000"/>
                </a:solidFill>
                <a:latin typeface="Calibri"/>
                <a:ea typeface="Calibri"/>
              </a:rPr>
              <a:t>The thread returns normally from its starting routine. </a:t>
            </a:r>
            <a:endParaRPr b="0" lang="en-US" sz="2420" spc="-1" strike="noStrike">
              <a:solidFill>
                <a:srgbClr val="000000"/>
              </a:solidFill>
              <a:latin typeface="Calibri"/>
            </a:endParaRPr>
          </a:p>
          <a:p>
            <a:pPr lvl="1" marL="720720" indent="-277200" defTabSz="8870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420" spc="-1" strike="noStrike">
                <a:solidFill>
                  <a:srgbClr val="000000"/>
                </a:solidFill>
                <a:latin typeface="Calibri"/>
                <a:ea typeface="Calibri"/>
              </a:rPr>
              <a:t>The thread makes a call to the pthread_exit subroutine.</a:t>
            </a:r>
            <a:endParaRPr b="0" lang="en-US" sz="2420" spc="-1" strike="noStrike">
              <a:solidFill>
                <a:srgbClr val="000000"/>
              </a:solidFill>
              <a:latin typeface="Calibri"/>
            </a:endParaRPr>
          </a:p>
          <a:p>
            <a:pPr lvl="1" marL="720720" indent="-277200" defTabSz="8870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420" spc="-1" strike="noStrike">
                <a:solidFill>
                  <a:srgbClr val="000000"/>
                </a:solidFill>
                <a:latin typeface="Calibri"/>
                <a:ea typeface="Calibri"/>
              </a:rPr>
              <a:t>The thread is canceled by another thread via the </a:t>
            </a:r>
            <a:r>
              <a:rPr b="0" lang="en-US" sz="2420" spc="-1" strike="noStrike">
                <a:solidFill>
                  <a:srgbClr val="00b0f0"/>
                </a:solidFill>
                <a:latin typeface="Calibri"/>
                <a:ea typeface="Calibri"/>
              </a:rPr>
              <a:t>pthread_cancel </a:t>
            </a:r>
            <a:r>
              <a:rPr b="0" lang="en-US" sz="2420" spc="-1" strike="noStrike">
                <a:solidFill>
                  <a:srgbClr val="000000"/>
                </a:solidFill>
                <a:latin typeface="Calibri"/>
                <a:ea typeface="Calibri"/>
              </a:rPr>
              <a:t>routine. </a:t>
            </a:r>
            <a:endParaRPr b="0" lang="en-US" sz="2420" spc="-1" strike="noStrike">
              <a:solidFill>
                <a:srgbClr val="000000"/>
              </a:solidFill>
              <a:latin typeface="Calibri"/>
            </a:endParaRPr>
          </a:p>
          <a:p>
            <a:pPr lvl="1" marL="720720" indent="-277200" defTabSz="8870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420" spc="-1" strike="noStrike">
                <a:solidFill>
                  <a:srgbClr val="000000"/>
                </a:solidFill>
                <a:latin typeface="Calibri"/>
                <a:ea typeface="Calibri"/>
              </a:rPr>
              <a:t>The entire process is terminated due to a call to exit() .</a:t>
            </a:r>
            <a:endParaRPr b="0" lang="en-US" sz="2420" spc="-1" strike="noStrike">
              <a:solidFill>
                <a:srgbClr val="000000"/>
              </a:solidFill>
              <a:latin typeface="Calibri"/>
            </a:endParaRPr>
          </a:p>
          <a:p>
            <a:pPr lvl="1" marL="720720" indent="-277200" defTabSz="887040">
              <a:lnSpc>
                <a:spcPct val="80000"/>
              </a:lnSpc>
              <a:spcBef>
                <a:spcPts val="499"/>
              </a:spcBef>
              <a:buClr>
                <a:srgbClr val="000000"/>
              </a:buClr>
              <a:buFont typeface="Wingdings" charset="2"/>
              <a:buChar char=""/>
              <a:tabLst>
                <a:tab algn="l" pos="0"/>
              </a:tabLst>
            </a:pPr>
            <a:r>
              <a:rPr b="0" lang="en-US" sz="2420" spc="-1" strike="noStrike">
                <a:solidFill>
                  <a:srgbClr val="000000"/>
                </a:solidFill>
                <a:latin typeface="Calibri"/>
                <a:ea typeface="Calibri"/>
              </a:rPr>
              <a:t>If main() finishes first.</a:t>
            </a:r>
            <a:endParaRPr b="0" lang="en-US" sz="242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Pthread Management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05560" cy="4876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pthread_cancel (thread)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cancels the specified thread.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pthread_attr_init (thread)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allows to initialize the attribute thread.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pthread_attr_destroy (thread)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allows to free library resources used by the attribute.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/>
          </p:nvPr>
        </p:nvSpPr>
        <p:spPr>
          <a:xfrm>
            <a:off x="457200" y="228600"/>
            <a:ext cx="8229240" cy="66290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b050"/>
                </a:solidFill>
                <a:latin typeface="Calibri"/>
                <a:ea typeface="Calibri"/>
              </a:rPr>
              <a:t>#include &lt;pthread.h&gt;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Calibri"/>
              </a:rPr>
              <a:t>#include &lt;stdio.h&gt;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Calibri"/>
              </a:rPr>
              <a:t>#define NUM_THREADS 5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Calibri"/>
              </a:rPr>
              <a:t>void *PrintHello(void *threadid) {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int tid;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tid = (int) threadid;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printf("Hello World! It's me, thread: %d!\n", tid);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alibri"/>
                <a:ea typeface="Calibri"/>
              </a:rPr>
              <a:t>pthread_exit(NULL);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Calibri"/>
              </a:rPr>
              <a:t>int main (int argc, char *argv[]) {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alibri"/>
                <a:ea typeface="Calibri"/>
              </a:rPr>
              <a:t>pthread_t threads[NUM_THREADS];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int rc;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for(int t=0; t&lt;NUM_THREADS; t++){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68580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printf("In main: creating thread %d\n", t);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68580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rc = </a:t>
            </a:r>
            <a:r>
              <a:rPr b="0" lang="en-US" sz="1800" spc="-1" strike="noStrike">
                <a:solidFill>
                  <a:srgbClr val="00b050"/>
                </a:solidFill>
                <a:latin typeface="Calibri"/>
                <a:ea typeface="Calibri"/>
              </a:rPr>
              <a:t>pthread_create(&amp;threads[t], NULL, PrintHello, (void *)t);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68580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if (rc){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68580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printf("ERROR; return code from pthread_create() is %d\n", rc);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28600" indent="68580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exit(-1);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b050"/>
                </a:solidFill>
                <a:latin typeface="Calibri"/>
                <a:ea typeface="Calibri"/>
              </a:rPr>
              <a:t>pthread_exit(NULL);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285840" indent="17136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return  0;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8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7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Shape 162"/>
          <p:cNvSpPr/>
          <p:nvPr/>
        </p:nvSpPr>
        <p:spPr>
          <a:xfrm>
            <a:off x="4394160" y="5137920"/>
            <a:ext cx="3962160" cy="1551960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By having main() explicitly call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pthread_exit() as the last thing it does,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main() will block and be kept alive to support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the threads it created until they are done.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63"/>
          <p:cNvSpPr/>
          <p:nvPr/>
        </p:nvSpPr>
        <p:spPr>
          <a:xfrm flipH="1">
            <a:off x="2895480" y="5715000"/>
            <a:ext cx="1523880" cy="380880"/>
          </a:xfrm>
          <a:prstGeom prst="line">
            <a:avLst/>
          </a:prstGeom>
          <a:ln w="25400">
            <a:solidFill>
              <a:srgbClr val="4f81b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/>
          </p:nvPr>
        </p:nvSpPr>
        <p:spPr>
          <a:xfrm>
            <a:off x="457200" y="76320"/>
            <a:ext cx="8229240" cy="67053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#include &lt;pthread.h&gt;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#include &lt;stdio.h&gt;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#define NUM_THREADS 5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void *PrintHello(void *threadid) {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int tid;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tid = (int) threadid;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printf("Hello World! It's me, thread: %d!\n", tid);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int main (int argc, char *argv[]) {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pthread_t threads[NUM_THREADS];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int rc;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for(int t=0; t&lt;NUM_THREADS; t++){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26440" indent="6789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printf("In main: creating thread %d\n", t);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26440" indent="6789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rc = </a:t>
            </a: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pthread_create(&amp;threads[t], NULL, PrintHello, (void *)t);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26440" indent="6789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if (rc){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26440" indent="6789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printf("ERROR; return code from pthread_create() is %d\n", rc);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26440" indent="6789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exit(-1);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for (int i=0; i&lt;NUM_THREADS; i++)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pthread_join (threads[i], NULL);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return  0;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Shape 166"/>
          <p:cNvSpPr/>
          <p:nvPr/>
        </p:nvSpPr>
        <p:spPr>
          <a:xfrm>
            <a:off x="5562720" y="5486400"/>
            <a:ext cx="2742840" cy="820800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Calibri"/>
              </a:rPr>
              <a:t>main() will block until all the threads[i] threads terminate.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67"/>
          <p:cNvSpPr/>
          <p:nvPr/>
        </p:nvSpPr>
        <p:spPr>
          <a:xfrm flipH="1">
            <a:off x="4038480" y="5715000"/>
            <a:ext cx="1523880" cy="380880"/>
          </a:xfrm>
          <a:prstGeom prst="line">
            <a:avLst/>
          </a:prstGeom>
          <a:ln w="25400">
            <a:solidFill>
              <a:srgbClr val="4f81bd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45720" rIns="4572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  <a:ea typeface="Calibri"/>
            </a:endParaRP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Mutual Exclusion (Mutex)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One of the primary means of implementing </a:t>
            </a:r>
            <a:r>
              <a:rPr b="0" lang="en-US" sz="3200" spc="-1" strike="noStrike">
                <a:solidFill>
                  <a:srgbClr val="00b050"/>
                </a:solidFill>
                <a:latin typeface="Calibri"/>
                <a:ea typeface="Calibri"/>
              </a:rPr>
              <a:t>thread synchronization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and for protecting shared data when multiple writes occur.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A mutex acts like a </a:t>
            </a:r>
            <a:r>
              <a:rPr b="0" lang="en-US" sz="3200" spc="-1" strike="noStrike">
                <a:solidFill>
                  <a:srgbClr val="00b050"/>
                </a:solidFill>
                <a:latin typeface="Calibri"/>
                <a:ea typeface="Calibri"/>
              </a:rPr>
              <a:t>lock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protecting access to a shared data resource.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Only one thread can lock (or own) a mutex variable at any given time.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Routines: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pthread_mutex_init (mutex, attr)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pthread_mutex_destroy (mutex)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pthread_mutex_lock (mutex)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pthread_mutex_unlock (mutex)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Mutual Exclusion (Mutex)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pthread_mutex_init (mutex, attr)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initiates the </a:t>
            </a: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mutex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and permits setting mutex object attributes </a:t>
            </a: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attr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pthread_mutex_destroy (mutex)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should be used to free a </a:t>
            </a: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mutex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object which is no longer needed.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Mutual Exclusion (Mutex)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9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900" spc="-1" strike="noStrike">
                <a:solidFill>
                  <a:srgbClr val="00b0f0"/>
                </a:solidFill>
                <a:latin typeface="Calibri"/>
                <a:ea typeface="Calibri"/>
              </a:rPr>
              <a:t>pthread_mutex_lock (mutex) </a:t>
            </a:r>
            <a:r>
              <a:rPr b="0" lang="en-US" sz="2900" spc="-1" strike="noStrike">
                <a:solidFill>
                  <a:srgbClr val="000000"/>
                </a:solidFill>
                <a:latin typeface="Calibri"/>
                <a:ea typeface="Calibri"/>
              </a:rPr>
              <a:t>routine is used by a thread to acquire a lock on the specified </a:t>
            </a:r>
            <a:r>
              <a:rPr b="0" lang="en-US" sz="2900" spc="-1" strike="noStrike">
                <a:solidFill>
                  <a:srgbClr val="00b0f0"/>
                </a:solidFill>
                <a:latin typeface="Calibri"/>
                <a:ea typeface="Calibri"/>
              </a:rPr>
              <a:t>mutex</a:t>
            </a:r>
            <a:r>
              <a:rPr b="0" lang="en-US" sz="2900" spc="-1" strike="noStrike">
                <a:solidFill>
                  <a:srgbClr val="000000"/>
                </a:solidFill>
                <a:latin typeface="Calibri"/>
                <a:ea typeface="Calibri"/>
              </a:rPr>
              <a:t> variable. If the mutex is already locked by another thread, this call will block the calling thread until the mutex is unlocked.</a:t>
            </a:r>
            <a:endParaRPr b="0" lang="en-US" sz="29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9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900" spc="-1" strike="noStrike">
                <a:solidFill>
                  <a:srgbClr val="00b0f0"/>
                </a:solidFill>
                <a:latin typeface="Calibri"/>
                <a:ea typeface="Calibri"/>
              </a:rPr>
              <a:t>pthread_mutex_unlock (mutex) </a:t>
            </a:r>
            <a:r>
              <a:rPr b="0" lang="en-US" sz="2900" spc="-1" strike="noStrike">
                <a:solidFill>
                  <a:srgbClr val="000000"/>
                </a:solidFill>
                <a:latin typeface="Calibri"/>
                <a:ea typeface="Calibri"/>
              </a:rPr>
              <a:t>will unlock a mutex if called by the owning thread. An error will be returned if:</a:t>
            </a:r>
            <a:endParaRPr b="0" lang="en-US" sz="29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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  <a:ea typeface="Calibri"/>
              </a:rPr>
              <a:t>If the mutex was already unlocked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9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"/>
            </a:pPr>
            <a:r>
              <a:rPr b="0" lang="en-US" sz="2500" spc="-1" strike="noStrike">
                <a:solidFill>
                  <a:srgbClr val="000000"/>
                </a:solidFill>
                <a:latin typeface="Calibri"/>
                <a:ea typeface="Calibri"/>
              </a:rPr>
              <a:t>If the mutex is owned by another thread </a:t>
            </a:r>
            <a:endParaRPr b="0" lang="en-US" sz="2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Mutual Exclusion (Mutex)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/>
          </p:nvPr>
        </p:nvSpPr>
        <p:spPr>
          <a:xfrm>
            <a:off x="457200" y="76320"/>
            <a:ext cx="8229240" cy="67053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#include &lt;pthread.h&gt;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#include &lt;stdio.h&gt;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pthread_mutex_t mutex;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int sum_value;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void *doSum (void *arg) {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int sum = (int) arg;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while(true){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pthread_mutex_lock(&amp;mutex);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sum_value += sum;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printf(“After sum in thread %d = %d\n", sum, sum_value);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pthread_mutex_unlock (&amp;mutex);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	</a:t>
            </a: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Sleep(5);}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int main (int argc, char *argv[]) {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pthread_t thread1, thread2;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int t1 = 1, t2 = 2;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b050"/>
                </a:solidFill>
                <a:latin typeface="Calibri"/>
                <a:ea typeface="Calibri"/>
              </a:rPr>
              <a:t>pthread_mutex_init(&amp;mutex, NULL);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pthread_create(&amp;thread1, NULL, doSum, (void *)t1);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pthread_create(&amp;thread2, NULL, doSum, (void *)t2);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pthread_join (thread1, NULL);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pthread_join (thread2, NULL);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282960" indent="16956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return  0;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  <a:p>
            <a:pPr marL="339480" indent="-339480" defTabSz="905400">
              <a:lnSpc>
                <a:spcPct val="100000"/>
              </a:lnSpc>
              <a:spcBef>
                <a:spcPts val="300"/>
              </a:spcBef>
              <a:buNone/>
              <a:tabLst>
                <a:tab algn="l" pos="0"/>
              </a:tabLst>
            </a:pPr>
            <a:r>
              <a:rPr b="0" lang="en-US" sz="1580" spc="-1" strike="noStrike">
                <a:solidFill>
                  <a:srgbClr val="000000"/>
                </a:solidFill>
                <a:latin typeface="Calibri"/>
                <a:ea typeface="Calibri"/>
              </a:rPr>
              <a:t>}</a:t>
            </a:r>
            <a:endParaRPr b="0" lang="en-US" sz="158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Semaphores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permit a limited number of threads to execute a section of the code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similar to mutexes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should include the </a:t>
            </a: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semaphore.h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header file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semaphore functions have </a:t>
            </a: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sem_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prefixes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Routines: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sem_init (sem, pshared, value)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sem_destroy (sem)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sem_wait (sem)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 </a:t>
            </a:r>
            <a:r>
              <a:rPr b="0" lang="en-US" sz="2800" spc="-1" strike="noStrike">
                <a:solidFill>
                  <a:srgbClr val="00b0f0"/>
                </a:solidFill>
                <a:latin typeface="Calibri"/>
                <a:ea typeface="Calibri"/>
              </a:rPr>
              <a:t>sem_post (sem)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Semaphores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35880" indent="-335880" defTabSz="89604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140" spc="-1" strike="noStrike">
                <a:solidFill>
                  <a:srgbClr val="00b0f0"/>
                </a:solidFill>
                <a:latin typeface="Calibri"/>
                <a:ea typeface="Calibri"/>
              </a:rPr>
              <a:t>sem_init (sem, pshared, value)</a:t>
            </a:r>
            <a:r>
              <a:rPr b="0" lang="en-US" sz="3140" spc="-1" strike="noStrike">
                <a:solidFill>
                  <a:srgbClr val="000000"/>
                </a:solidFill>
                <a:latin typeface="Calibri"/>
                <a:ea typeface="Calibri"/>
              </a:rPr>
              <a:t> initializes a semaphore object pointed to by </a:t>
            </a:r>
            <a:r>
              <a:rPr b="0" lang="en-US" sz="3140" spc="-1" strike="noStrike">
                <a:solidFill>
                  <a:srgbClr val="00b0f0"/>
                </a:solidFill>
                <a:latin typeface="Calibri"/>
                <a:ea typeface="Calibri"/>
              </a:rPr>
              <a:t>sem</a:t>
            </a:r>
            <a:endParaRPr b="0" lang="en-US" sz="3140" spc="-1" strike="noStrike">
              <a:solidFill>
                <a:srgbClr val="000000"/>
              </a:solidFill>
              <a:latin typeface="Calibri"/>
            </a:endParaRPr>
          </a:p>
          <a:p>
            <a:pPr lvl="1" marL="727920" indent="-280080" defTabSz="896040">
              <a:lnSpc>
                <a:spcPct val="100000"/>
              </a:lnSpc>
              <a:spcBef>
                <a:spcPts val="601"/>
              </a:spcBef>
              <a:buClr>
                <a:srgbClr val="00b0f0"/>
              </a:buClr>
              <a:buFont typeface="Wingdings" charset="2"/>
              <a:buChar char=""/>
            </a:pPr>
            <a:r>
              <a:rPr b="0" lang="en-US" sz="2740" spc="-1" strike="noStrike">
                <a:solidFill>
                  <a:srgbClr val="00b0f0"/>
                </a:solidFill>
                <a:latin typeface="Calibri"/>
                <a:ea typeface="Calibri"/>
              </a:rPr>
              <a:t>pshared</a:t>
            </a:r>
            <a:r>
              <a:rPr b="0" lang="en-US" sz="2740" spc="-1" strike="noStrike">
                <a:solidFill>
                  <a:srgbClr val="000000"/>
                </a:solidFill>
                <a:latin typeface="Calibri"/>
                <a:ea typeface="Calibri"/>
              </a:rPr>
              <a:t> is a sharing option; a value of 0 means the semaphore is local to the calling process</a:t>
            </a:r>
            <a:endParaRPr b="0" lang="en-US" sz="2740" spc="-1" strike="noStrike">
              <a:solidFill>
                <a:srgbClr val="000000"/>
              </a:solidFill>
              <a:latin typeface="Calibri"/>
            </a:endParaRPr>
          </a:p>
          <a:p>
            <a:pPr lvl="1" marL="727920" indent="-280080" defTabSz="89604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"/>
            </a:pPr>
            <a:r>
              <a:rPr b="0" lang="en-US" sz="2740" spc="-1" strike="noStrike">
                <a:solidFill>
                  <a:srgbClr val="000000"/>
                </a:solidFill>
                <a:latin typeface="Calibri"/>
                <a:ea typeface="Calibri"/>
              </a:rPr>
              <a:t>gives an initial value </a:t>
            </a:r>
            <a:r>
              <a:rPr b="0" lang="en-US" sz="2740" spc="-1" strike="noStrike">
                <a:solidFill>
                  <a:srgbClr val="00b0f0"/>
                </a:solidFill>
                <a:latin typeface="Calibri"/>
                <a:ea typeface="Calibri"/>
              </a:rPr>
              <a:t>value</a:t>
            </a:r>
            <a:r>
              <a:rPr b="0" lang="en-US" sz="2740" spc="-1" strike="noStrike">
                <a:solidFill>
                  <a:srgbClr val="000000"/>
                </a:solidFill>
                <a:latin typeface="Calibri"/>
                <a:ea typeface="Calibri"/>
              </a:rPr>
              <a:t> to the semaphore</a:t>
            </a:r>
            <a:endParaRPr b="0" lang="en-US" sz="2740" spc="-1" strike="noStrike">
              <a:solidFill>
                <a:srgbClr val="000000"/>
              </a:solidFill>
              <a:latin typeface="Calibri"/>
            </a:endParaRPr>
          </a:p>
          <a:p>
            <a:pPr marL="335880" indent="-335880" defTabSz="89604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140" spc="-1" strike="noStrike">
                <a:solidFill>
                  <a:srgbClr val="00b0f0"/>
                </a:solidFill>
                <a:latin typeface="Calibri"/>
                <a:ea typeface="Calibri"/>
              </a:rPr>
              <a:t>sem_destroy (sem) </a:t>
            </a:r>
            <a:r>
              <a:rPr b="0" lang="en-US" sz="3140" spc="-1" strike="noStrike">
                <a:solidFill>
                  <a:srgbClr val="000000"/>
                </a:solidFill>
                <a:latin typeface="Calibri"/>
                <a:ea typeface="Calibri"/>
              </a:rPr>
              <a:t>frees the resources allocated to the semaphore </a:t>
            </a:r>
            <a:r>
              <a:rPr b="0" lang="en-US" sz="3140" spc="-1" strike="noStrike">
                <a:solidFill>
                  <a:srgbClr val="00b0f0"/>
                </a:solidFill>
                <a:latin typeface="Calibri"/>
                <a:ea typeface="Calibri"/>
              </a:rPr>
              <a:t>sem</a:t>
            </a:r>
            <a:r>
              <a:rPr b="0" lang="en-US" sz="3140" spc="-1" strike="noStrike">
                <a:solidFill>
                  <a:srgbClr val="000000"/>
                </a:solidFill>
                <a:latin typeface="Calibri"/>
                <a:ea typeface="Calibri"/>
              </a:rPr>
              <a:t> and this routine is usually called after pthread_join().</a:t>
            </a:r>
            <a:endParaRPr b="0" lang="en-US" sz="314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Semaphores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sem_wait (sem)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atomically decreases the value of a semaphore </a:t>
            </a: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sem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by 1, if it is negative, the calling process blocks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  <a:ea typeface="Calibri"/>
              </a:rPr>
              <a:t>one of the blocked processes wakes up when another process calls sem_post.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700"/>
              </a:spcBef>
              <a:buClr>
                <a:srgbClr val="00b0f0"/>
              </a:buClr>
              <a:buFont typeface="Wingdings" charset="2"/>
              <a:buChar char=""/>
            </a:pP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sem_post (sem)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atomically increases the value of a semaphore </a:t>
            </a:r>
            <a:r>
              <a:rPr b="0" lang="en-US" sz="3200" spc="-1" strike="noStrike">
                <a:solidFill>
                  <a:srgbClr val="00b0f0"/>
                </a:solidFill>
                <a:latin typeface="Calibri"/>
                <a:ea typeface="Calibri"/>
              </a:rPr>
              <a:t>sem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  <a:ea typeface="Calibri"/>
              </a:rPr>
              <a:t> by 1.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rIns="4572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  <a:ea typeface="Calibri"/>
              </a:rPr>
              <a:t>Semaphores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 pitchFamily="0" charset="1"/>
        <a:ea typeface="Helvetica" pitchFamily="0" charset="1"/>
        <a:cs typeface="Helvetica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2025-06-25T18:20:24Z</dcterms:modified>
  <cp:revision>1</cp:revision>
  <dc:subject/>
  <dc:title/>
</cp:coreProperties>
</file>